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113577-7424-4615-A0B8-72AAFFB8E0CE}">
  <a:tblStyle styleId="{C4113577-7424-4615-A0B8-72AAFFB8E0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3dacbb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3dacbb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3dacbb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3dacbb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3dacbbe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3dacbb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514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Agentic Design Patterns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36600" y="1525950"/>
            <a:ext cx="78957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➔"/>
            </a:pPr>
            <a:r>
              <a:rPr lang="en" sz="2200">
                <a:latin typeface="Helvetica Neue"/>
                <a:ea typeface="Helvetica Neue"/>
                <a:cs typeface="Helvetica Neue"/>
                <a:sym typeface="Helvetica Neue"/>
              </a:rPr>
              <a:t>Reflections: LLM examines it own output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Helvetica Neue"/>
              <a:buChar char="➔"/>
            </a:pPr>
            <a:r>
              <a:rPr lang="en" sz="2200">
                <a:latin typeface="Helvetica Neue"/>
                <a:ea typeface="Helvetica Neue"/>
                <a:cs typeface="Helvetica Neue"/>
                <a:sym typeface="Helvetica Neue"/>
              </a:rPr>
              <a:t>Tools use: LLM uses </a:t>
            </a:r>
            <a:r>
              <a:rPr lang="en" sz="2200">
                <a:latin typeface="Helvetica Neue"/>
                <a:ea typeface="Helvetica Neue"/>
                <a:cs typeface="Helvetica Neue"/>
                <a:sym typeface="Helvetica Neue"/>
              </a:rPr>
              <a:t>different tools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Helvetica Neue"/>
              <a:buChar char="➔"/>
            </a:pPr>
            <a:r>
              <a:rPr lang="en" sz="2200">
                <a:latin typeface="Helvetica Neue"/>
                <a:ea typeface="Helvetica Neue"/>
                <a:cs typeface="Helvetica Neue"/>
                <a:sym typeface="Helvetica Neue"/>
              </a:rPr>
              <a:t>Planning: LLM decides the sequence of steps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Planning: Agentic Design Patterns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08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Helps you build 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Highly Autonomous Agents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Helvetica Neue"/>
              <a:buChar char="-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No Hard Coding of Steps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Helvetica Neue"/>
              <a:buChar char="-"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Difficult to Control for Developers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Example: Customer Service Agent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79200" y="1217675"/>
            <a:ext cx="4551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Customer Inventory Table</a:t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952550" y="179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{C4113577-7424-4615-A0B8-72AAFFB8E0CE}</a:tableStyleId>
              </a:tblPr>
              <a:tblGrid>
                <a:gridCol w="1079575"/>
                <a:gridCol w="760450"/>
                <a:gridCol w="1693275"/>
                <a:gridCol w="785000"/>
                <a:gridCol w="1079575"/>
              </a:tblGrid>
              <a:tr h="34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Unit count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Oversized round plastic style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Classic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Round profile, gold frame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1003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Aviator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Timeless Pilot Flight For any occasion, metal frame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" name="Google Shape;69;p15"/>
          <p:cNvSpPr/>
          <p:nvPr/>
        </p:nvSpPr>
        <p:spPr>
          <a:xfrm>
            <a:off x="7041400" y="2048300"/>
            <a:ext cx="1957800" cy="114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query -</a:t>
            </a:r>
            <a:br>
              <a:rPr lang="en"/>
            </a:br>
            <a:r>
              <a:rPr lang="en"/>
              <a:t>Give me the list of glasses which are round frame and less than 1000 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Planning with Code Execution: Customer Service Agent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